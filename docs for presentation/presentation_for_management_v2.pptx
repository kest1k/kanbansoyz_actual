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СОЮЗ-PLM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5544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Канбан-доска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85800" y="2606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задачами и прозрачность работы сотрудников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85800" y="3337560"/>
            <a:ext cx="731520" cy="36576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 для руководства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чтения: ~6 минут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Проблема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Оперативные задачи живут где угодно — только не в единой системе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457200" cy="4572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00200"/>
            <a:ext cx="41148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00200"/>
            <a:ext cx="54864" cy="10058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658368" y="1828800"/>
            <a:ext cx="548640" cy="54864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069" y="1949501"/>
            <a:ext cx="307238" cy="3072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Устные поручения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71600" y="2148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забываются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09160" y="1600200"/>
            <a:ext cx="41148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1600200"/>
            <a:ext cx="54864" cy="10058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Shape 11"/>
          <p:cNvSpPr/>
          <p:nvPr/>
        </p:nvSpPr>
        <p:spPr>
          <a:xfrm>
            <a:off x="4910328" y="1828800"/>
            <a:ext cx="548640" cy="54864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029" y="1949501"/>
            <a:ext cx="307238" cy="30723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62356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Почта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623560" y="2148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тонут среди десятков других писем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57200" y="2743200"/>
            <a:ext cx="41148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2743200"/>
            <a:ext cx="54864" cy="10058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Shape 16"/>
          <p:cNvSpPr/>
          <p:nvPr/>
        </p:nvSpPr>
        <p:spPr>
          <a:xfrm>
            <a:off x="658368" y="2971800"/>
            <a:ext cx="548640" cy="54864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69" y="3092501"/>
            <a:ext cx="307238" cy="30723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371600" y="2926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Стикеры, блокноты, Excel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371600" y="3291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каждого свой — общей картины нет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31" name="Text 25"/>
          <p:cNvSpPr/>
          <p:nvPr/>
        </p:nvSpPr>
        <p:spPr>
          <a:xfrm>
            <a:off x="640080" y="3977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Итог: задачи теряются, сроки срываются, руководитель узнаёт о проблеме постфактум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0" y="502920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3" name="Text 27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Канбан-доска · Для руководства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6858000" y="4892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Решение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Электронная канбан-доска внутри «Союз-PLM»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457200" cy="4572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00200"/>
            <a:ext cx="411480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00200"/>
            <a:ext cx="73152" cy="283464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91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колонки: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011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Надо сделать → В работе → Ожидание → Готово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задача — карточка: название, описание, срок, приоритет, исполнитель, вложения, чат.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3611880"/>
            <a:ext cx="3749040" cy="685800"/>
          </a:xfrm>
          <a:prstGeom prst="roundRect">
            <a:avLst>
              <a:gd name="adj" fmla="val 10667"/>
            </a:avLst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6118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Ничего не нужно устанавливать 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на сервере, ни на рабочих местах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600200"/>
            <a:ext cx="3840480" cy="2834640"/>
          </a:xfrm>
          <a:prstGeom prst="rect">
            <a:avLst/>
          </a:prstGeom>
          <a:solidFill>
            <a:srgbClr val="EEF2F8"/>
          </a:solidFill>
          <a:ln w="12700">
            <a:solidFill>
              <a:srgbClr val="B6C2D9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846320" y="1600200"/>
            <a:ext cx="3840480" cy="274320"/>
          </a:xfrm>
          <a:prstGeom prst="rect">
            <a:avLst/>
          </a:prstGeom>
          <a:solidFill>
            <a:srgbClr val="DDE4F2"/>
          </a:solidFill>
          <a:ln/>
        </p:spPr>
      </p:sp>
      <p:sp>
        <p:nvSpPr>
          <p:cNvPr id="15" name="Shape 13"/>
          <p:cNvSpPr/>
          <p:nvPr/>
        </p:nvSpPr>
        <p:spPr>
          <a:xfrm>
            <a:off x="4956048" y="1682496"/>
            <a:ext cx="109728" cy="109728"/>
          </a:xfrm>
          <a:prstGeom prst="ellipse">
            <a:avLst/>
          </a:prstGeom>
          <a:solidFill>
            <a:srgbClr val="E94E4E"/>
          </a:solidFill>
          <a:ln/>
        </p:spPr>
      </p:sp>
      <p:sp>
        <p:nvSpPr>
          <p:cNvPr id="16" name="Shape 14"/>
          <p:cNvSpPr/>
          <p:nvPr/>
        </p:nvSpPr>
        <p:spPr>
          <a:xfrm>
            <a:off x="5120640" y="1682496"/>
            <a:ext cx="109728" cy="109728"/>
          </a:xfrm>
          <a:prstGeom prst="ellipse">
            <a:avLst/>
          </a:prstGeom>
          <a:solidFill>
            <a:srgbClr val="F5B841"/>
          </a:solidFill>
          <a:ln/>
        </p:spPr>
      </p:sp>
      <p:sp>
        <p:nvSpPr>
          <p:cNvPr id="17" name="Shape 15"/>
          <p:cNvSpPr/>
          <p:nvPr/>
        </p:nvSpPr>
        <p:spPr>
          <a:xfrm>
            <a:off x="5285232" y="1682496"/>
            <a:ext cx="109728" cy="109728"/>
          </a:xfrm>
          <a:prstGeom prst="ellipse">
            <a:avLst/>
          </a:prstGeom>
          <a:solidFill>
            <a:srgbClr val="5FBB64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87452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300" dirty="0">
                <a:solidFill>
                  <a:srgbClr val="8896B3"/>
                </a:solidFill>
              </a:rPr>
              <a:t>🖼</a:t>
            </a:r>
            <a:endParaRPr lang="en-US" sz="4300" dirty="0"/>
          </a:p>
        </p:txBody>
      </p:sp>
      <p:sp>
        <p:nvSpPr>
          <p:cNvPr id="19" name="Text 17"/>
          <p:cNvSpPr/>
          <p:nvPr/>
        </p:nvSpPr>
        <p:spPr>
          <a:xfrm>
            <a:off x="5029200" y="3886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Скриншот: общий вид доски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502920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Канбан-доска · Для руководства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0" y="4892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видит руководитель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Переключатель режимов — в одно нажатие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457200" cy="4572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45920"/>
            <a:ext cx="4297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45920"/>
            <a:ext cx="9144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556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Мои задачи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0756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самому себе и поставленные лично вам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4297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60320"/>
            <a:ext cx="9144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6700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Сектор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29900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Начальник сектора и ведущий инженер видит задачи всех сотрудников своего сектора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4297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474720"/>
            <a:ext cx="9144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584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Отделение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9044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Начальник отделения видит все сектора и всех сотрудников отделения. Генеральный конструктор видит все отделения.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1645920"/>
            <a:ext cx="3840480" cy="2606040"/>
          </a:xfrm>
          <a:prstGeom prst="rect">
            <a:avLst/>
          </a:prstGeom>
          <a:solidFill>
            <a:srgbClr val="EEF2F8"/>
          </a:solidFill>
          <a:ln w="12700">
            <a:solidFill>
              <a:srgbClr val="B6C2D9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937760" y="1645920"/>
            <a:ext cx="3840480" cy="274320"/>
          </a:xfrm>
          <a:prstGeom prst="rect">
            <a:avLst/>
          </a:prstGeom>
          <a:solidFill>
            <a:srgbClr val="DDE4F2"/>
          </a:solidFill>
          <a:ln/>
        </p:spPr>
      </p:sp>
      <p:sp>
        <p:nvSpPr>
          <p:cNvPr id="20" name="Shape 18"/>
          <p:cNvSpPr/>
          <p:nvPr/>
        </p:nvSpPr>
        <p:spPr>
          <a:xfrm>
            <a:off x="5047488" y="1728216"/>
            <a:ext cx="109728" cy="109728"/>
          </a:xfrm>
          <a:prstGeom prst="ellipse">
            <a:avLst/>
          </a:prstGeom>
          <a:solidFill>
            <a:srgbClr val="E94E4E"/>
          </a:solidFill>
          <a:ln/>
        </p:spPr>
      </p:sp>
      <p:sp>
        <p:nvSpPr>
          <p:cNvPr id="21" name="Shape 19"/>
          <p:cNvSpPr/>
          <p:nvPr/>
        </p:nvSpPr>
        <p:spPr>
          <a:xfrm>
            <a:off x="5212080" y="1728216"/>
            <a:ext cx="109728" cy="109728"/>
          </a:xfrm>
          <a:prstGeom prst="ellipse">
            <a:avLst/>
          </a:prstGeom>
          <a:solidFill>
            <a:srgbClr val="F5B841"/>
          </a:solidFill>
          <a:ln/>
        </p:spPr>
      </p:sp>
      <p:sp>
        <p:nvSpPr>
          <p:cNvPr id="22" name="Shape 20"/>
          <p:cNvSpPr/>
          <p:nvPr/>
        </p:nvSpPr>
        <p:spPr>
          <a:xfrm>
            <a:off x="5376672" y="1728216"/>
            <a:ext cx="109728" cy="109728"/>
          </a:xfrm>
          <a:prstGeom prst="ellipse">
            <a:avLst/>
          </a:prstGeom>
          <a:solidFill>
            <a:srgbClr val="5FBB64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1920240"/>
            <a:ext cx="3840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8896B3"/>
                </a:solidFill>
              </a:rPr>
              <a:t>🖼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5120640" y="3703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Скриншот: переключатель «Мои / Сектор / Отделение»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389120"/>
            <a:ext cx="832104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38912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Нагрузка команды видна сразу · Фильтры по сотруднику, подразделению и периоду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502920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Канбан-доска · Для руководства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58000" y="4892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Отчёты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Автоматическая статистика за неделю · месяц · квартал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457200" cy="4572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6" name="Shape 4"/>
          <p:cNvSpPr/>
          <p:nvPr/>
        </p:nvSpPr>
        <p:spPr>
          <a:xfrm>
            <a:off x="4846320" y="1600200"/>
            <a:ext cx="3840480" cy="2743200"/>
          </a:xfrm>
          <a:prstGeom prst="rect">
            <a:avLst/>
          </a:prstGeom>
          <a:solidFill>
            <a:srgbClr val="EEF2F8"/>
          </a:solidFill>
          <a:ln w="12700">
            <a:solidFill>
              <a:srgbClr val="B6C2D9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4846320" y="1600200"/>
            <a:ext cx="3840480" cy="274320"/>
          </a:xfrm>
          <a:prstGeom prst="rect">
            <a:avLst/>
          </a:prstGeom>
          <a:solidFill>
            <a:srgbClr val="DDE4F2"/>
          </a:solidFill>
          <a:ln/>
        </p:spPr>
      </p:sp>
      <p:sp>
        <p:nvSpPr>
          <p:cNvPr id="8" name="Shape 6"/>
          <p:cNvSpPr/>
          <p:nvPr/>
        </p:nvSpPr>
        <p:spPr>
          <a:xfrm>
            <a:off x="4956048" y="1682496"/>
            <a:ext cx="109728" cy="109728"/>
          </a:xfrm>
          <a:prstGeom prst="ellipse">
            <a:avLst/>
          </a:prstGeom>
          <a:solidFill>
            <a:srgbClr val="E94E4E"/>
          </a:solidFill>
          <a:ln/>
        </p:spPr>
      </p:sp>
      <p:sp>
        <p:nvSpPr>
          <p:cNvPr id="9" name="Shape 7"/>
          <p:cNvSpPr/>
          <p:nvPr/>
        </p:nvSpPr>
        <p:spPr>
          <a:xfrm>
            <a:off x="5120640" y="1682496"/>
            <a:ext cx="109728" cy="109728"/>
          </a:xfrm>
          <a:prstGeom prst="ellipse">
            <a:avLst/>
          </a:prstGeom>
          <a:solidFill>
            <a:srgbClr val="F5B841"/>
          </a:solidFill>
          <a:ln/>
        </p:spPr>
      </p:sp>
      <p:sp>
        <p:nvSpPr>
          <p:cNvPr id="10" name="Shape 8"/>
          <p:cNvSpPr/>
          <p:nvPr/>
        </p:nvSpPr>
        <p:spPr>
          <a:xfrm>
            <a:off x="5285232" y="1682496"/>
            <a:ext cx="109728" cy="109728"/>
          </a:xfrm>
          <a:prstGeom prst="ellipse">
            <a:avLst/>
          </a:prstGeom>
          <a:solidFill>
            <a:srgbClr val="5FBB64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87452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8896B3"/>
                </a:solidFill>
              </a:rPr>
              <a:t>🖼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5029200" y="3794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Скриншот: экран отчёта по задачам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173736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166" y="1827886"/>
            <a:ext cx="230429" cy="230429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15568" y="1737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Создано / выполнено / просрочено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23774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6" y="2467966"/>
            <a:ext cx="230429" cy="23042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15568" y="23774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по исполнителям с прогрессом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48640" y="30175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6" y="3108046"/>
            <a:ext cx="230429" cy="23042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15568" y="30175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Детализация по любому сотруднику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6" y="3748126"/>
            <a:ext cx="230429" cy="230429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15568" y="3657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Объективные данные для планёрок и аттестаций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0" y="502920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6" name="Text 20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Канбан-доска · Для руководства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858000" y="4892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Преимущества для подчинённых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получают ваши сотрудники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457200" cy="4572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600200"/>
            <a:ext cx="285292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600200"/>
            <a:ext cx="54864" cy="155448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8" name="Shape 6"/>
          <p:cNvSpPr/>
          <p:nvPr/>
        </p:nvSpPr>
        <p:spPr>
          <a:xfrm>
            <a:off x="521208" y="180136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901952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176479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Ничего не теряется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21208" y="237744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в одном месте, а не в почте и в головах.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1840" y="1600200"/>
            <a:ext cx="285292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91840" y="1600200"/>
            <a:ext cx="54864" cy="155448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14" name="Shape 11"/>
          <p:cNvSpPr/>
          <p:nvPr/>
        </p:nvSpPr>
        <p:spPr>
          <a:xfrm>
            <a:off x="3493008" y="180136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1901952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069080" y="176479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 привязан к задаче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493008" y="237744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Чертежи, модели, переписка — всё в карточке. Контекст не восстанавливается по крупицам.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63640" y="1600200"/>
            <a:ext cx="285292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63640" y="1600200"/>
            <a:ext cx="54864" cy="155448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20" name="Shape 16"/>
          <p:cNvSpPr/>
          <p:nvPr/>
        </p:nvSpPr>
        <p:spPr>
          <a:xfrm>
            <a:off x="6464808" y="180136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1901952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040880" y="176479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Передача дел за минуты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464808" y="237744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Отпуск, больничный, ротация — переназначил карточки. Работа не встаёт.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320040" y="3273552"/>
            <a:ext cx="285292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320040" y="3273552"/>
            <a:ext cx="54864" cy="155448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26" name="Shape 21"/>
          <p:cNvSpPr/>
          <p:nvPr/>
        </p:nvSpPr>
        <p:spPr>
          <a:xfrm>
            <a:off x="521208" y="34747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575304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97280" y="343814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 отвлечений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521208" y="4050792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задачи виден всем заинтересованным. Меньше уточнений по состоянию выполнения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3291840" y="3273552"/>
            <a:ext cx="285292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291840" y="3273552"/>
            <a:ext cx="54864" cy="155448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32" name="Shape 26"/>
          <p:cNvSpPr/>
          <p:nvPr/>
        </p:nvSpPr>
        <p:spPr>
          <a:xfrm>
            <a:off x="3493008" y="34747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3592" y="3575304"/>
            <a:ext cx="256032" cy="25603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069080" y="343814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Видна своя нагрузка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3493008" y="4050792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Сотрудник сам видит, что горит. Проще планировать день, меньше стресса.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6263640" y="3273552"/>
            <a:ext cx="285292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263640" y="3273552"/>
            <a:ext cx="54864" cy="155448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38" name="Shape 31"/>
          <p:cNvSpPr/>
          <p:nvPr/>
        </p:nvSpPr>
        <p:spPr>
          <a:xfrm>
            <a:off x="6464808" y="34747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392" y="3575304"/>
            <a:ext cx="256032" cy="256032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7040880" y="343814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новой программы</a:t>
            </a:r>
            <a:endParaRPr lang="en-US" sz="1400" dirty="0"/>
          </a:p>
        </p:txBody>
      </p:sp>
      <p:sp>
        <p:nvSpPr>
          <p:cNvPr id="41" name="Text 33"/>
          <p:cNvSpPr/>
          <p:nvPr/>
        </p:nvSpPr>
        <p:spPr>
          <a:xfrm>
            <a:off x="6464808" y="4050792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тот же «Союз». Обучение — минимальное, привыкают за дни.</a:t>
            </a:r>
            <a:endParaRPr lang="en-US" sz="1100" dirty="0"/>
          </a:p>
        </p:txBody>
      </p:sp>
      <p:sp>
        <p:nvSpPr>
          <p:cNvPr id="42" name="Shape 34"/>
          <p:cNvSpPr/>
          <p:nvPr/>
        </p:nvSpPr>
        <p:spPr>
          <a:xfrm>
            <a:off x="0" y="502920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3" name="Text 35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Канбан-доска · Для руководства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6858000" y="4892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Преимущества для руководителя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получаете лично вы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457200" cy="4572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600200"/>
            <a:ext cx="285292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600200"/>
            <a:ext cx="54864" cy="1554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521208" y="180136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901952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176479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Прозрачность в реальном времени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21208" y="237744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Нагрузка сектора/отделения — на одном экране. Кто перегружен, у кого свободные руки.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1840" y="1600200"/>
            <a:ext cx="285292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91840" y="1600200"/>
            <a:ext cx="54864" cy="1554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Shape 11"/>
          <p:cNvSpPr/>
          <p:nvPr/>
        </p:nvSpPr>
        <p:spPr>
          <a:xfrm>
            <a:off x="3493008" y="180136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1901952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069080" y="176479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Сроки под контролем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493008" y="237744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Просроченные — подсвечены автоматически. Сверхсрочные — отдельным приоритетом.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63640" y="1600200"/>
            <a:ext cx="285292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63640" y="1600200"/>
            <a:ext cx="54864" cy="1554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Shape 16"/>
          <p:cNvSpPr/>
          <p:nvPr/>
        </p:nvSpPr>
        <p:spPr>
          <a:xfrm>
            <a:off x="6464808" y="180136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1901952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040880" y="176479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Короче совещания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464808" y="237744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Доска уже показывает, кто чем занят. Планёрка — только про решения.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320040" y="3273552"/>
            <a:ext cx="285292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320040" y="3273552"/>
            <a:ext cx="54864" cy="1554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Shape 21"/>
          <p:cNvSpPr/>
          <p:nvPr/>
        </p:nvSpPr>
        <p:spPr>
          <a:xfrm>
            <a:off x="521208" y="34747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575304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97280" y="343814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для планирования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521208" y="4050792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Отчёты — не со слов, а по факту. Видно, кто держит сроки, а кто нет.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3291840" y="3273552"/>
            <a:ext cx="285292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291840" y="3273552"/>
            <a:ext cx="54864" cy="1554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2" name="Shape 26"/>
          <p:cNvSpPr/>
          <p:nvPr/>
        </p:nvSpPr>
        <p:spPr>
          <a:xfrm>
            <a:off x="3493008" y="34747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3592" y="3575304"/>
            <a:ext cx="256032" cy="25603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069080" y="343814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Аудит-след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3493008" y="4050792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каждой задаче — история: кто назначил, переназначил, изменил срок.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6263640" y="3273552"/>
            <a:ext cx="285292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263640" y="3273552"/>
            <a:ext cx="54864" cy="1554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8" name="Shape 31"/>
          <p:cNvSpPr/>
          <p:nvPr/>
        </p:nvSpPr>
        <p:spPr>
          <a:xfrm>
            <a:off x="6464808" y="34747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392" y="3575304"/>
            <a:ext cx="256032" cy="256032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7040880" y="343814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риска потерь</a:t>
            </a:r>
            <a:endParaRPr lang="en-US" sz="1400" dirty="0"/>
          </a:p>
        </p:txBody>
      </p:sp>
      <p:sp>
        <p:nvSpPr>
          <p:cNvPr id="41" name="Text 33"/>
          <p:cNvSpPr/>
          <p:nvPr/>
        </p:nvSpPr>
        <p:spPr>
          <a:xfrm>
            <a:off x="6464808" y="4050792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Устное поручение забывается. Карточка на доске — нет.</a:t>
            </a:r>
            <a:endParaRPr lang="en-US" sz="1100" dirty="0"/>
          </a:p>
        </p:txBody>
      </p:sp>
      <p:sp>
        <p:nvSpPr>
          <p:cNvPr id="42" name="Shape 34"/>
          <p:cNvSpPr/>
          <p:nvPr/>
        </p:nvSpPr>
        <p:spPr>
          <a:xfrm>
            <a:off x="0" y="502920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3" name="Text 35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Канбан-доска · Для руководства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6858000" y="4892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Уже реализовано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Текущее состояние модуля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457200" cy="4572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645920"/>
            <a:ext cx="27889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78308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387" y="1863547"/>
            <a:ext cx="204826" cy="20482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737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Доска с 4 колонками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1645920"/>
            <a:ext cx="27889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83280" y="178308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3747" y="1863547"/>
            <a:ext cx="204826" cy="20482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40480" y="1737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Приоритеты, сроки, исполнители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1645920"/>
            <a:ext cx="27889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63640" y="178308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4107" y="1863547"/>
            <a:ext cx="204826" cy="20482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20840" y="1737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Сверхсрочный приоритет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365760" y="2560320"/>
            <a:ext cx="27889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02920" y="269748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87" y="2777947"/>
            <a:ext cx="204826" cy="20482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60120" y="2651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Уведомления при назначении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3246120" y="2560320"/>
            <a:ext cx="27889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3383280" y="269748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3747" y="2777947"/>
            <a:ext cx="204826" cy="20482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840480" y="2651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Иерархия ролей и режимы просмотра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6126480" y="2560320"/>
            <a:ext cx="27889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6263640" y="269748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4107" y="2777947"/>
            <a:ext cx="204826" cy="20482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720840" y="2651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Групповая постановка задач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365760" y="3474720"/>
            <a:ext cx="27889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502920" y="361188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387" y="3692347"/>
            <a:ext cx="204826" cy="20482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960120" y="35661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Вложения: объекты и папки «Союза»</a:t>
            </a:r>
            <a:endParaRPr lang="en-US" sz="1100" dirty="0"/>
          </a:p>
        </p:txBody>
      </p:sp>
      <p:sp>
        <p:nvSpPr>
          <p:cNvPr id="34" name="Shape 25"/>
          <p:cNvSpPr/>
          <p:nvPr/>
        </p:nvSpPr>
        <p:spPr>
          <a:xfrm>
            <a:off x="3246120" y="3474720"/>
            <a:ext cx="27889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Shape 26"/>
          <p:cNvSpPr/>
          <p:nvPr/>
        </p:nvSpPr>
        <p:spPr>
          <a:xfrm>
            <a:off x="3383280" y="361188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63747" y="3692347"/>
            <a:ext cx="204826" cy="204826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3840480" y="35661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Комментарии в карточке</a:t>
            </a:r>
            <a:endParaRPr lang="en-US" sz="1100" dirty="0"/>
          </a:p>
        </p:txBody>
      </p:sp>
      <p:sp>
        <p:nvSpPr>
          <p:cNvPr id="38" name="Shape 28"/>
          <p:cNvSpPr/>
          <p:nvPr/>
        </p:nvSpPr>
        <p:spPr>
          <a:xfrm>
            <a:off x="6126480" y="3474720"/>
            <a:ext cx="27889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39" name="Shape 29"/>
          <p:cNvSpPr/>
          <p:nvPr/>
        </p:nvSpPr>
        <p:spPr>
          <a:xfrm>
            <a:off x="6263640" y="361188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4107" y="3692347"/>
            <a:ext cx="204826" cy="204826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6720840" y="35661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Отчёты по периодам</a:t>
            </a:r>
            <a:endParaRPr lang="en-US" sz="1100" dirty="0"/>
          </a:p>
        </p:txBody>
      </p:sp>
      <p:sp>
        <p:nvSpPr>
          <p:cNvPr id="42" name="Text 31"/>
          <p:cNvSpPr/>
          <p:nvPr/>
        </p:nvSpPr>
        <p:spPr>
          <a:xfrm>
            <a:off x="457200" y="4480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Встроенная справка для пользователей — прямо на доске (иконка «?»)</a:t>
            </a:r>
            <a:endParaRPr lang="en-US" sz="1100" dirty="0"/>
          </a:p>
        </p:txBody>
      </p:sp>
      <p:sp>
        <p:nvSpPr>
          <p:cNvPr id="43" name="Shape 32"/>
          <p:cNvSpPr/>
          <p:nvPr/>
        </p:nvSpPr>
        <p:spPr>
          <a:xfrm>
            <a:off x="0" y="502920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4" name="Text 33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Канбан-доска · Для руководства</a:t>
            </a:r>
            <a:endParaRPr lang="en-US" sz="900" dirty="0"/>
          </a:p>
        </p:txBody>
      </p:sp>
      <p:sp>
        <p:nvSpPr>
          <p:cNvPr id="45" name="Text 34"/>
          <p:cNvSpPr/>
          <p:nvPr/>
        </p:nvSpPr>
        <p:spPr>
          <a:xfrm>
            <a:off x="6858000" y="4892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Перспективы развития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будет дальше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457200" cy="4572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00200"/>
            <a:ext cx="8229600" cy="13716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00200"/>
            <a:ext cx="109728" cy="137160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37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Модуль планирования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из годового и квартального плана автоматически появляются на доске. Руководитель видит, как план превращается в действия.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27432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" y="347472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318" y="3565246"/>
            <a:ext cx="230429" cy="23042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43000" y="32918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Рабочие процессы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запуске процесса (согласование, выпуск КД) — задача на доске. Завершился процесс — карточка в «Готово».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337560" y="3291840"/>
            <a:ext cx="27432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502152" y="347472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678" y="3565246"/>
            <a:ext cx="230429" cy="23042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023360" y="32918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 Directum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Задания из СЭД становятся задачами на доске. Одна задача — одно место контроля.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217920" y="3291840"/>
            <a:ext cx="27432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82512" y="347472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038" y="3565246"/>
            <a:ext cx="230429" cy="23042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03720" y="32918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Фильтрация и аналитика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Фильтрация по дате, исполнителю, приоритету. Расширенная аналитика для руководителей.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0" y="502920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Text 18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Канбан-доска · Для руководства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6858000" y="4892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200400"/>
            <a:ext cx="3657600" cy="3657600"/>
          </a:xfrm>
          <a:prstGeom prst="ellipse">
            <a:avLst/>
          </a:prstGeom>
          <a:solidFill>
            <a:srgbClr val="1E2761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1887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Спасибо.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85800" y="21488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Откройте «Союз» → кнопка “Доска задач” → создайте первую задачу.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2834640"/>
            <a:ext cx="731520" cy="36576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9718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[ФИО]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3474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[должность · подразделение]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886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[e-mail · добавочный]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4617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Канбан-доска · Союз-PLM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Канбан-доска в Союз-PLM — Для руководства</dc:title>
  <dc:subject>PptxGenJS Presentation</dc:subject>
  <dc:creator>Артур</dc:creator>
  <cp:lastModifiedBy>Артур</cp:lastModifiedBy>
  <cp:revision>1</cp:revision>
  <dcterms:created xsi:type="dcterms:W3CDTF">2026-04-21T10:30:18Z</dcterms:created>
  <dcterms:modified xsi:type="dcterms:W3CDTF">2026-04-21T10:30:18Z</dcterms:modified>
</cp:coreProperties>
</file>